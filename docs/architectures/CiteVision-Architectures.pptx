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D4A574"/>
                </a:solidFill>
                <a:latin typeface="Georgia"/>
              </a:rPr>
              <a:t>CitéVision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FE9"/>
                </a:solidFill>
                <a:latin typeface="Calibri"/>
              </a:rPr>
              <a:t>Cartographie des architectures métier &amp; produit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AABA3"/>
                </a:solidFill>
                <a:latin typeface="Calibri"/>
              </a:rPr>
              <a:t>Zone → IA → règle → preuve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9AABA3"/>
                </a:solidFill>
                <a:latin typeface="Calibri"/>
              </a:rPr>
              <a:t>10 patterns de règles · 6 blocs produit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9AABA3"/>
                </a:solidFill>
                <a:latin typeface="Calibri"/>
              </a:rPr>
              <a:t>Pour reconnaître le mécanisme de n’importe quelle règle du catalogue.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B84"/>
                </a:solidFill>
                <a:latin typeface="Calibri"/>
              </a:rPr>
              <a:t>CitéVision ·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9B84"/>
                </a:solidFill>
                <a:latin typeface="Calibri"/>
              </a:rPr>
              <a:t>Mode d’emploi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FE9"/>
                </a:solidFill>
                <a:latin typeface="Georgia"/>
              </a:rPr>
              <a:t>Comment lire ces architectures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8EFE9"/>
                </a:solidFill>
                <a:latin typeface="Calibri"/>
              </a:rPr>
              <a:t>▸  Chaque schéma décrit un MÉCANISME, pas une règle isolée.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9AABA3"/>
                </a:solidFill>
                <a:latin typeface="Calibri"/>
              </a:rPr>
              <a:t>▸  Signal (qui voit) → Jugement (qui décide) → Règle (match event_type) → Preuve (clip + images).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9AABA3"/>
                </a:solidFill>
                <a:latin typeface="Calibri"/>
              </a:rPr>
              <a:t>▸  Deux templates qui partagent le même jugement partagent le même schéma.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9AABA3"/>
                </a:solidFill>
                <a:latin typeface="Calibri"/>
              </a:rPr>
              <a:t>▸  Fail-closed : pas d’alerte « finale » sans preuves exigées.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9AABA3"/>
                </a:solidFill>
                <a:latin typeface="Calibri"/>
              </a:rPr>
              <a:t>▸  Badge catalogue real / partial / beta = vérité produit (un beau schéma ≠ DoD).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9B84"/>
                </a:solidFill>
                <a:latin typeface="Calibri"/>
              </a:rPr>
              <a:t>Reconnaissance rapide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FE9"/>
                </a:solidFill>
                <a:latin typeface="Georgia"/>
              </a:rPr>
              <a:t>Quelle question → quel pattern 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4A574"/>
                          </a:solidFill>
                          <a:latin typeface="Calibri"/>
                        </a:rPr>
                        <a:t>Si la règle…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4A574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BA3"/>
                          </a:solidFill>
                          <a:latin typeface="Calibri"/>
                        </a:rPr>
                        <a:t>Juge habitacle via Gemini yes/no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FE9"/>
                          </a:solidFill>
                          <a:latin typeface="Calibri"/>
                        </a:rPr>
                        <a:t>A2 Cabin VLM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BA3"/>
                          </a:solidFill>
                          <a:latin typeface="Calibri"/>
                        </a:rPr>
                        <a:t>Mesure vitesse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FE9"/>
                          </a:solidFill>
                          <a:latin typeface="Calibri"/>
                        </a:rPr>
                        <a:t>A3 Measure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BA3"/>
                          </a:solidFill>
                          <a:latin typeface="Calibri"/>
                        </a:rPr>
                        <a:t>Feu + véhicule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FE9"/>
                          </a:solidFill>
                          <a:latin typeface="Calibri"/>
                        </a:rPr>
                        <a:t>A4 Dual-signal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BA3"/>
                          </a:solidFill>
                          <a:latin typeface="Calibri"/>
                        </a:rPr>
                        <a:t>Visage / liste surveillance (« liste noire 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FE9"/>
                          </a:solidFill>
                          <a:latin typeface="Calibri"/>
                        </a:rPr>
                        <a:t>A1 Face fusion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BA3"/>
                          </a:solidFill>
                          <a:latin typeface="Calibri"/>
                        </a:rPr>
                        <a:t>Plaque / OCR / blocklist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FE9"/>
                          </a:solidFill>
                          <a:latin typeface="Calibri"/>
                        </a:rPr>
                        <a:t>A8 Plate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BA3"/>
                          </a:solidFill>
                          <a:latin typeface="Calibri"/>
                        </a:rPr>
                        <a:t>Zone enter / loiter / breach / stopped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FE9"/>
                          </a:solidFill>
                          <a:latin typeface="Calibri"/>
                        </a:rPr>
                        <a:t>A5 Geometry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BA3"/>
                          </a:solidFill>
                          <a:latin typeface="Calibri"/>
                        </a:rPr>
                        <a:t>Ligne / sens interdit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FE9"/>
                          </a:solidFill>
                          <a:latin typeface="Calibri"/>
                        </a:rPr>
                        <a:t>A6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BA3"/>
                          </a:solidFill>
                          <a:latin typeface="Calibri"/>
                        </a:rPr>
                        <a:t>Seuil foule / comptage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FE9"/>
                          </a:solidFill>
                          <a:latin typeface="Calibri"/>
                        </a:rPr>
                        <a:t>A7 Aggregate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BA3"/>
                          </a:solidFill>
                          <a:latin typeface="Calibri"/>
                        </a:rPr>
                        <a:t>Objet abandonné / retiré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FE9"/>
                          </a:solidFill>
                          <a:latin typeface="Calibri"/>
                        </a:rPr>
                        <a:t>A9 Objects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ABA3"/>
                          </a:solidFill>
                          <a:latin typeface="Calibri"/>
                        </a:rPr>
                        <a:t>Plusieurs events dans une fenêtre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EFE9"/>
                          </a:solidFill>
                          <a:latin typeface="Calibri"/>
                        </a:rPr>
                        <a:t>A10 Composite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B84"/>
                </a:solidFill>
                <a:latin typeface="Calibri"/>
              </a:rPr>
              <a:t>PARTIE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FE9"/>
                </a:solidFill>
                <a:latin typeface="Georgia"/>
              </a:rPr>
              <a:t>Dix architectures de règles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BA3"/>
                </a:solidFill>
                <a:latin typeface="Calibri"/>
              </a:rPr>
              <a:t>Les patterns qui couvrent le catalogue CitéVision.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A1 · Archetype 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Identité faciale — fusion à priorité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Crop Frigate → 3 votes (Frigate Face, InsightFace watchlist, Gemini refs). Priorité Frigate &gt; InsightFace &gt; Gemini. « Liste noire » UI = face_watchlist → face_watchlist_match.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223760" cy="136057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tpl-face-watchlist · tpl-watchlist-match · tpl-face-detected · tpl-unknown-face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tpl-identity-correlation (face + plaque)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Clip 6s + scene full + face bbox · fail-closed sur face · identity_votes / winner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Watchlist + photos enroll + Frigate face ON. Si face_enqueued=0 → bridge, pas Gemini.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A2 · Archetype cabin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Cabin Gemini — jugement yes / 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Zone cabin (seatbelt / phone) → crop vehicle_bbox → file VLM → Gemini. Sans violation claire → cabin_ignored (fail-closed), pas d’alerte.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223760" cy="7437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tpl-seatbelt · tpl-phone-driving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Ne pas confondre avec A4 feu ou A3 vitesse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Clip 6s + scene + subject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spatial seatbelt chaud → cabin_enqueued&gt;0 → vlm_completed. emitted=0 + rejected=0 ≈ « pas de violation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A3 · Archetype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Vitesse — pont Frigate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Track + zone de mesure → speed_kmh vs seuil → speeding. Preuve scène + sujet (+ plaque si pipeline plaque).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223760" cy="112830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tpl-speeding · tpl-speeding-premium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tpl-traffic-pipeline (vitesse + feu + plaque)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Clip 6s + scene + subject + plate?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zone speed_measurement en spatial + bridge speed ON (speed_emitted vs below_limit).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A4 · Archetype dual_signal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Feu rouge — géométrie + état feu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Véhicule ∩ zone ET feu rouge (HSV / vote). Sinon skipped_not_red. Plus exigeant qu’une simple présence.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223760" cy="9819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tpl-red-light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traffic-pipeline avec A3 + A8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Clip 6s + scene + subject + plate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Distinguer pas de voiture / feu pas rouge / refus VLM.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A5 · Archetype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Géométrie de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Présence, loitering/dwell, périmètre, stopped, absence. Jugement spatial-temporel, VLM non obligatoire. Zones via ZoneEditor uniquement.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4884027" cy="301989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zone-presence · absence · loitering · perimeter · dwell · person/vehicle_stopped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composites intrusion + schedule (A10)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Clip 6s + scene + subject bbox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Zone dans Frigate (cv_zone_*) + spatial AI avant d’accuser la règle.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A6 · Archetype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Ligne — croisement &amp; sens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Ligne (pas zone) : line_cross / sens interdit. Base du comptage directionnel.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223760" cy="13797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tpl-line-cross · bidir · forbidden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A7 agrégats sur crossings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Clip 6s + scene + subject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Ligne active DB + spatial/Frigate. Ligne seule ≠ gate cabin.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A7 · Archetype aggregate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Agrégats — seuils &amp; densité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On agrège (count / densité / fenêtre). Seuil franchi → event. Foule, files, parking.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223760" cy="5431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vehicle-count · crowd-count · crowd-density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observation N/OR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Clip 6s + scene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Vérifier fenêtre + seuil bindings — souvent un faux bug 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A8 · Archetype 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Plaque — OCR fusion + listes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Crop → PaddleOCR (+ Gemini OCR) → fusion → plate_detected puis block / allow / unknown / repeat. Listes plaque ≠ watchlist visage.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223760" cy="85215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plate-detected · blocked · whitelist · unknown · repeat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A1 face · A3 speed · A4 red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Clip 6s + scene + plate crop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OCR health + crop lisible + liste active.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A9 · Archetype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Objets — abandon / retrait / disparition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Géométrie + temps sur objet (hybrid). Différent du loitering personne (A5).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223760" cy="25039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abandoned · object-removed · object-disappeared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atomes séparés (pas de theft-composite catalogue)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Clip 6s + scene + object bbox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Durée min abandon/disparition dans bindings.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A10 · Archetype composite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Composite — séquence d’atomes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Pas un nouveau détecteur. Fenêtre sur atoms déjà émis. Preuve = union. Atom missing → suppress fail-closed.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223760" cy="15180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identity-correlation · traffic-pipeline · industrial-intrusion · observation N/OR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réutilise A1–A9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Union des packages atomes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Valider chaque atom isolément avant le composite.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B84"/>
                </a:solidFill>
                <a:latin typeface="Calibri"/>
              </a:rPr>
              <a:t>PARTIE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FE9"/>
                </a:solidFill>
                <a:latin typeface="Georgia"/>
              </a:rPr>
              <a:t>Six architectures produit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BA3"/>
                </a:solidFill>
                <a:latin typeface="Calibri"/>
              </a:rPr>
              <a:t>Start, heal, sorties, caméras, containers, preuves.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B1 ·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Démarrage Start-CiteVision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Launcher → WSL start-full-stack STRICT → infra → API → IA → rules → business readiness → UI → watchdogs. Readiness FAIL = Start non-zéro.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925604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346" y="1717966"/>
            <a:ext cx="1362555" cy="39062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Start-CiteVision.ps1 · start-full-stack.sh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B2 watchdogs post-start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N/A (boot)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011" y="5767036"/>
            <a:ext cx="11292840" cy="82296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9296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149" y="61950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Messages produit streamés — pas de chemins miroir labo côté client.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B2 ·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Auto-heal + readiness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Ports/containers + état métier (spatial, rules, Frigate zones, go2rtc). Probe → heal → re-probe.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993" y="1839641"/>
            <a:ext cx="1607992" cy="304155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watch-infra-ports · watch-business-readiness · service-heal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B1 Start STRICT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N/A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Redis down ≠ zone_count=0 — heals différents.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B3 · Sorties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Alerte → webhook / 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Event → rules match → alert DB → evidence async → routing. Pas de finale si evidence missing exigée.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223760" cy="1575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routing · webhook · mail premium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B6 preuves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complete avant sortie « finale 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Tester webhook sur alerte complete, pas sur log MQTT seul.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B4 ·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Ajout d’une caméra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UI → cameras DB → Frigate cv_&lt;uuid&gt; → StartCamera IA + spatial. Zones via ZoneEditor seulement.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269" y="1838246"/>
            <a:ext cx="4414351" cy="29453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onboard UI · orchestrator SyncNow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B1 ingest LIVE · A*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N/A jusqu’à première alerte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Live View ≠ ingest IA. Vérifier spatial après zone/règle.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B5 · Infra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Orchestration containers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Compose WSL : Postgres, Redis, MQTT, MinIO, go2rtc, Frigate, OCR. API/AI/rules/frontend = process host + watchdogs.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223760" cy="165617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docker compose · dockerd natif WSL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B2 heal 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N/A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Ports host morts après hibernation → heal infra d’abord.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574"/>
                </a:solidFill>
                <a:latin typeface="Calibri"/>
              </a:rPr>
              <a:t>B6 ·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FE9"/>
                </a:solidFill>
                <a:latin typeface="Georgia"/>
              </a:rPr>
              <a:t>Preuves — Postgres + MinIO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BA3"/>
                </a:solidFill>
                <a:latin typeface="Calibri"/>
              </a:rPr>
              <a:t>Events/alerts en DB. Binaires (clip, JPEG) dans MinIO. Composer async, jamais de preuve fabriquée. Retention purge démo.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7589520" cy="3246120"/>
          </a:xfrm>
          <a:prstGeom prst="roundRect">
            <a:avLst/>
          </a:prstGeom>
          <a:solidFill>
            <a:srgbClr val="0E1416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223760" cy="228205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69164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B84"/>
                </a:solidFill>
                <a:latin typeface="Calibri"/>
              </a:rPr>
              <a:t>MÊME FONCTIONNEMENT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evidence composer · MinIO bucket · retention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8892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A574"/>
                </a:solidFill>
                <a:latin typeface="Calibri"/>
              </a:rPr>
              <a:t>COMBINE AVEC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B3 sorties · validate_rule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86200"/>
            <a:ext cx="3520440" cy="960120"/>
          </a:xfrm>
          <a:prstGeom prst="roundRect">
            <a:avLst/>
          </a:prstGeom>
          <a:solidFill>
            <a:srgbClr val="12181A"/>
          </a:solidFill>
          <a:ln>
            <a:solidFill>
              <a:srgbClr val="2A3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977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BC8F"/>
                </a:solidFill>
                <a:latin typeface="Calibri"/>
              </a:rPr>
              <a:t>PREUVES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0624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BA3"/>
                </a:solidFill>
                <a:latin typeface="Calibri"/>
              </a:rPr>
              <a:t>complete | missing (+ cause)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92840" cy="1234440"/>
          </a:xfrm>
          <a:prstGeom prst="roundRect">
            <a:avLst/>
          </a:prstGeom>
          <a:solidFill>
            <a:srgbClr val="142220"/>
          </a:solidFill>
          <a:ln>
            <a:solidFill>
              <a:srgbClr val="4A9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BC8F"/>
                </a:solidFill>
                <a:latin typeface="Calibri"/>
              </a:rPr>
              <a:t>DEBUG PRAGMATIQUE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FE9"/>
                </a:solidFill>
                <a:latin typeface="Calibri"/>
              </a:rPr>
              <a:t>DoD = alerte UI + fichiers MinIO + mail — pas un log MQTT.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521440" y="6537960"/>
            <a:ext cx="502920" cy="20116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D4A574"/>
                </a:solidFill>
                <a:latin typeface="Georgia"/>
              </a:rPr>
              <a:t>CitéVision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BA3"/>
                </a:solidFill>
                <a:latin typeface="Calibri"/>
              </a:rPr>
              <a:t>De la caméra à la preuve actionnable.
Companion web : docs/architectures/index.html
Même contenu, navigation interactive + diagrammes Mermaid.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1426</Words>
  <Application>Microsoft Office PowerPoint</Application>
  <PresentationFormat>Grand écran</PresentationFormat>
  <Paragraphs>221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Glory Henock</cp:lastModifiedBy>
  <cp:revision>2</cp:revision>
  <dcterms:created xsi:type="dcterms:W3CDTF">2013-01-27T09:14:16Z</dcterms:created>
  <dcterms:modified xsi:type="dcterms:W3CDTF">2026-08-11T04:46:43Z</dcterms:modified>
  <cp:category/>
</cp:coreProperties>
</file>